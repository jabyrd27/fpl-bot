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4"/>
  </p:sldMasterIdLst>
  <p:sldIdLst>
    <p:sldId id="256" r:id="rId5"/>
    <p:sldId id="257" r:id="rId6"/>
    <p:sldId id="258" r:id="rId7"/>
    <p:sldId id="269" r:id="rId8"/>
    <p:sldId id="264" r:id="rId9"/>
    <p:sldId id="260" r:id="rId10"/>
    <p:sldId id="263" r:id="rId11"/>
    <p:sldId id="267" r:id="rId12"/>
    <p:sldId id="272" r:id="rId13"/>
    <p:sldId id="275" r:id="rId14"/>
    <p:sldId id="276" r:id="rId15"/>
    <p:sldId id="273" r:id="rId16"/>
    <p:sldId id="274" r:id="rId17"/>
    <p:sldId id="262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22" autoAdjust="0"/>
  </p:normalViewPr>
  <p:slideViewPr>
    <p:cSldViewPr snapToGrid="0">
      <p:cViewPr>
        <p:scale>
          <a:sx n="100" d="100"/>
          <a:sy n="100" d="100"/>
        </p:scale>
        <p:origin x="-465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796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224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840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8031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50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306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32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597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446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840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248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04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176D86B6-289C-F411-7E80-5721D0527D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4000"/>
          </a:blip>
          <a:srcRect l="2216" r="2216"/>
          <a:stretch/>
        </p:blipFill>
        <p:spPr>
          <a:xfrm>
            <a:off x="20" y="-1"/>
            <a:ext cx="12191980" cy="6858000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AD6D3A-8BAA-918E-1909-51AB56180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3578626"/>
            <a:ext cx="5839764" cy="95220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 Serif"/>
                <a:cs typeface="Aptos Serif"/>
              </a:rPr>
              <a:t>Fantasy Draft AID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FA100-7B65-56AD-70DB-BD0106951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613932"/>
            <a:ext cx="6991776" cy="1302774"/>
          </a:xfrm>
        </p:spPr>
        <p:txBody>
          <a:bodyPr>
            <a:normAutofit lnSpcReduction="10000"/>
          </a:bodyPr>
          <a:lstStyle/>
          <a:p>
            <a:endParaRPr lang="en-US" dirty="0">
              <a:latin typeface="Aptos Serif"/>
              <a:cs typeface="Aptos Serif"/>
            </a:endParaRPr>
          </a:p>
          <a:p>
            <a:r>
              <a:rPr lang="en-US" dirty="0">
                <a:latin typeface="Aptos Serif"/>
                <a:cs typeface="Aptos Serif"/>
              </a:rPr>
              <a:t>CS 465</a:t>
            </a:r>
          </a:p>
          <a:p>
            <a:r>
              <a:rPr lang="en-US" dirty="0">
                <a:latin typeface="Aptos Serif"/>
                <a:cs typeface="Aptos Serif"/>
              </a:rPr>
              <a:t>John Byrd</a:t>
            </a:r>
          </a:p>
        </p:txBody>
      </p:sp>
    </p:spTree>
    <p:extLst>
      <p:ext uri="{BB962C8B-B14F-4D97-AF65-F5344CB8AC3E}">
        <p14:creationId xmlns:p14="http://schemas.microsoft.com/office/powerpoint/2010/main" val="158597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90295278-F529-C171-E983-FF0F118207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A997C6-261C-C589-2A10-E1B22CE09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Serif"/>
                <a:cs typeface="Aptos Serif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FE4C8-8A4F-CA8C-31E1-77A5885B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ptos Serif"/>
                <a:cs typeface="Aptos Serif"/>
              </a:rPr>
              <a:t>Fantasy Premier League is an online game </a:t>
            </a:r>
            <a:r>
              <a:rPr lang="en-US" dirty="0">
                <a:ea typeface="+mn-lt"/>
                <a:cs typeface="+mn-lt"/>
              </a:rPr>
              <a:t>where millions of participants draft real-life Premier League players into fantasy squads to score points based on weekly performances.</a:t>
            </a:r>
            <a:endParaRPr lang="en-US" dirty="0">
              <a:latin typeface="Aptos Serif"/>
              <a:cs typeface="Aptos Serif"/>
            </a:endParaRPr>
          </a:p>
          <a:p>
            <a:pPr lvl="1" indent="-269875"/>
            <a:r>
              <a:rPr lang="en-US" dirty="0">
                <a:latin typeface="Aptos Serif"/>
                <a:cs typeface="Aptos Serif"/>
              </a:rPr>
              <a:t>Draft is a game mode of premier league fantasy. A league of typically 8-12 managers compete head-to-head using unique teams to try and end up at the top of the league table once the final gameweek has finished.</a:t>
            </a:r>
          </a:p>
          <a:p>
            <a:r>
              <a:rPr lang="en-US" dirty="0">
                <a:latin typeface="Aptos Serif"/>
                <a:cs typeface="Aptos Serif"/>
              </a:rPr>
              <a:t>In a competitive league, hours and hours of research must be done to facilitate draft success. One mistake or unlucky circumstance can derail a years' worth of work.</a:t>
            </a:r>
          </a:p>
          <a:p>
            <a:r>
              <a:rPr lang="en-US" dirty="0">
                <a:latin typeface="Aptos Serif"/>
                <a:cs typeface="Aptos Serif"/>
              </a:rPr>
              <a:t>The goal of this project was to help managers make informed decisions while not needing to contemplate or debate the future implications a trade may have</a:t>
            </a:r>
          </a:p>
          <a:p>
            <a:pPr marL="0" indent="0">
              <a:buNone/>
            </a:pPr>
            <a:endParaRPr lang="en-US" dirty="0">
              <a:latin typeface="Aptos Serif"/>
              <a:cs typeface="Aptos Serif"/>
            </a:endParaRPr>
          </a:p>
          <a:p>
            <a:endParaRPr lang="en-US" dirty="0">
              <a:latin typeface="Aptos Serif"/>
              <a:cs typeface="Aptos Serif"/>
            </a:endParaRPr>
          </a:p>
          <a:p>
            <a:endParaRPr lang="en-US" dirty="0">
              <a:latin typeface="Calisto MT" panose="02040603050505030304"/>
              <a:cs typeface="Aptos Serif"/>
            </a:endParaRPr>
          </a:p>
        </p:txBody>
      </p:sp>
    </p:spTree>
    <p:extLst>
      <p:ext uri="{BB962C8B-B14F-4D97-AF65-F5344CB8AC3E}">
        <p14:creationId xmlns:p14="http://schemas.microsoft.com/office/powerpoint/2010/main" val="309509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D333436B-D7E8-89F5-B849-F92DE16DD0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CCFC33-F02B-2E92-E32B-7B6A38AB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Serif"/>
                <a:cs typeface="Aptos Serif"/>
              </a:rPr>
              <a:t>Key 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034C9-EC6E-9E36-38E0-FDAA1E294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indent="-305435"/>
            <a:r>
              <a:rPr lang="en-US" sz="1400" dirty="0">
                <a:latin typeface="Aptos Serif"/>
                <a:cs typeface="Aptos Serif"/>
              </a:rPr>
              <a:t>Implementing AI to make predictions in fantasy sports, as well as their real-life counterparts, is a well-researched problem, many of which explore using Random Forest Regressors to make predictions on player performance</a:t>
            </a:r>
            <a:endParaRPr lang="en-US" dirty="0"/>
          </a:p>
          <a:p>
            <a:pPr marL="685800"/>
            <a:r>
              <a:rPr lang="en-US" sz="1200" dirty="0">
                <a:latin typeface="Aptos Serif"/>
                <a:ea typeface="+mn-lt"/>
                <a:cs typeface="+mn-lt"/>
              </a:rPr>
              <a:t>Player Recommendation System for FPL</a:t>
            </a:r>
            <a:endParaRPr lang="en-US" sz="120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cs typeface="Aptos Serif"/>
            </a:endParaRPr>
          </a:p>
          <a:p>
            <a:pPr lvl="2"/>
            <a:r>
              <a:rPr lang="en-US" sz="1200" dirty="0">
                <a:latin typeface="Aptos Serif"/>
                <a:ea typeface="+mn-lt"/>
                <a:cs typeface="+mn-lt"/>
              </a:rPr>
              <a:t>Demonstrated the use of classification and regression models to recommend FPL players based on position, form, and price [1].</a:t>
            </a:r>
            <a:endParaRPr lang="en-US" sz="1200" dirty="0">
              <a:latin typeface="Aptos Serif"/>
              <a:cs typeface="Aptos Serif"/>
            </a:endParaRPr>
          </a:p>
          <a:p>
            <a:pPr lvl="2"/>
            <a:r>
              <a:rPr lang="en-US" sz="1200" dirty="0">
                <a:latin typeface="Aptos Serif"/>
                <a:ea typeface="+mn-lt"/>
                <a:cs typeface="+mn-lt"/>
              </a:rPr>
              <a:t>Inspired the two-model architecture: short-term vs. long-term performance predictions.</a:t>
            </a:r>
            <a:endParaRPr lang="en-US" sz="1200" dirty="0">
              <a:latin typeface="Aptos Serif"/>
              <a:cs typeface="Aptos Serif"/>
            </a:endParaRPr>
          </a:p>
          <a:p>
            <a:pPr lvl="1" indent="-269875"/>
            <a:r>
              <a:rPr lang="en-US" sz="1200" dirty="0">
                <a:latin typeface="Aptos Serif"/>
                <a:ea typeface="+mn-lt"/>
                <a:cs typeface="+mn-lt"/>
              </a:rPr>
              <a:t>Random Forest-Based Fantasy Football Team Selection</a:t>
            </a:r>
            <a:endParaRPr lang="en-US" sz="1200" dirty="0">
              <a:latin typeface="Aptos Serif"/>
              <a:cs typeface="Aptos Serif"/>
            </a:endParaRPr>
          </a:p>
          <a:p>
            <a:pPr lvl="2"/>
            <a:r>
              <a:rPr lang="en-US" sz="1200" dirty="0">
                <a:latin typeface="Aptos Serif"/>
                <a:ea typeface="+mn-lt"/>
                <a:cs typeface="+mn-lt"/>
              </a:rPr>
              <a:t>Applied Random Forest Regression to weekly team selection, validating its ability to model FPL performance [2].</a:t>
            </a:r>
            <a:endParaRPr lang="en-US" sz="1200" dirty="0">
              <a:latin typeface="Aptos Serif"/>
              <a:cs typeface="Aptos Serif"/>
            </a:endParaRPr>
          </a:p>
          <a:p>
            <a:pPr lvl="2"/>
            <a:r>
              <a:rPr lang="en-US" sz="1200" dirty="0">
                <a:latin typeface="Aptos Serif"/>
                <a:ea typeface="+mn-lt"/>
                <a:cs typeface="+mn-lt"/>
              </a:rPr>
              <a:t>Supported our choice to use Random Forest as the predictive core for both scoring models.</a:t>
            </a:r>
            <a:endParaRPr lang="en-US" sz="1200" dirty="0">
              <a:latin typeface="Aptos Serif"/>
              <a:cs typeface="Aptos Serif"/>
            </a:endParaRPr>
          </a:p>
          <a:p>
            <a:pPr lvl="1" indent="-269875"/>
            <a:r>
              <a:rPr lang="en-US" sz="1200" dirty="0">
                <a:latin typeface="Aptos Serif"/>
                <a:ea typeface="+mn-lt"/>
                <a:cs typeface="+mn-lt"/>
              </a:rPr>
              <a:t>Using ML Models to Predict Points in FPL</a:t>
            </a:r>
            <a:endParaRPr lang="en-US" sz="1200" dirty="0">
              <a:latin typeface="Aptos Serif"/>
              <a:cs typeface="Aptos Serif"/>
            </a:endParaRPr>
          </a:p>
          <a:p>
            <a:pPr lvl="2"/>
            <a:r>
              <a:rPr lang="en-US" sz="1200" dirty="0">
                <a:latin typeface="Aptos Serif"/>
                <a:ea typeface="+mn-lt"/>
                <a:cs typeface="+mn-lt"/>
              </a:rPr>
              <a:t>Compared various ML models (Random Forest, Gradient Boosting, etc.) and analyzed feature importance [3].</a:t>
            </a:r>
            <a:endParaRPr lang="en-US" sz="1200" dirty="0">
              <a:latin typeface="Aptos Serif"/>
              <a:cs typeface="Aptos Serif"/>
            </a:endParaRPr>
          </a:p>
          <a:p>
            <a:pPr lvl="2"/>
            <a:r>
              <a:rPr lang="en-US" sz="1200" dirty="0">
                <a:latin typeface="Aptos Serif"/>
                <a:ea typeface="+mn-lt"/>
                <a:cs typeface="+mn-lt"/>
              </a:rPr>
              <a:t>Encouraged our emphasis on feature selection and interpretation for transparency in predictions.</a:t>
            </a:r>
            <a:endParaRPr lang="en-US" sz="1200" dirty="0">
              <a:latin typeface="Aptos Serif"/>
              <a:cs typeface="Aptos Serif"/>
            </a:endParaRPr>
          </a:p>
          <a:p>
            <a:pPr indent="-305435"/>
            <a:r>
              <a:rPr lang="en-US" sz="1400" dirty="0">
                <a:latin typeface="Aptos Serif"/>
                <a:cs typeface="Aptos Serif"/>
              </a:rPr>
              <a:t>While most of these methods have focused on classic FPL and traditional fantasy sports formats, this project adapts and extends them specifically for the under-served draft format.</a:t>
            </a:r>
            <a:endParaRPr lang="en-US" sz="140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cs typeface="Aptos Serif"/>
            </a:endParaRPr>
          </a:p>
        </p:txBody>
      </p:sp>
    </p:spTree>
    <p:extLst>
      <p:ext uri="{BB962C8B-B14F-4D97-AF65-F5344CB8AC3E}">
        <p14:creationId xmlns:p14="http://schemas.microsoft.com/office/powerpoint/2010/main" val="22381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888D6-A3D0-BA5F-4444-A13CFC7D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4DA4B2A6-E4B1-114F-A8FC-0620148896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19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5399BD-0D47-FEA3-D60A-ADBB1EAF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481" y="785327"/>
            <a:ext cx="10691265" cy="1371030"/>
          </a:xfrm>
        </p:spPr>
        <p:txBody>
          <a:bodyPr/>
          <a:lstStyle/>
          <a:p>
            <a:r>
              <a:rPr lang="en-US" dirty="0">
                <a:latin typeface="Aptos Serif"/>
                <a:cs typeface="Aptos Serif"/>
              </a:rPr>
              <a:t>Approach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10932-0EB6-DEA6-9D2D-20F90C48A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481" y="1716741"/>
            <a:ext cx="10691265" cy="4353264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305435">
              <a:lnSpc>
                <a:spcPct val="90000"/>
              </a:lnSpc>
            </a:pPr>
            <a:r>
              <a:rPr lang="en-US" dirty="0">
                <a:latin typeface="Aptos Serif"/>
                <a:ea typeface="+mn-lt"/>
                <a:cs typeface="Aptos Serif"/>
              </a:rPr>
              <a:t>The purpose of this project is to try and predict how well </a:t>
            </a:r>
            <a:r>
              <a:rPr lang="en-US" dirty="0">
                <a:latin typeface="Aptos Serif"/>
                <a:cs typeface="Aptos Serif"/>
              </a:rPr>
              <a:t>each player will perform in the near future, then extrapolating the data to give an accurate estimation of how well the player will do </a:t>
            </a:r>
            <a:r>
              <a:rPr lang="en-US" dirty="0">
                <a:latin typeface="Aptos Serif"/>
                <a:ea typeface="+mn-lt"/>
                <a:cs typeface="Aptos Serif"/>
              </a:rPr>
              <a:t>over the course of the season.</a:t>
            </a:r>
          </a:p>
          <a:p>
            <a:pPr indent="-305435">
              <a:lnSpc>
                <a:spcPct val="90000"/>
              </a:lnSpc>
            </a:pPr>
            <a:r>
              <a:rPr lang="en-US" dirty="0">
                <a:latin typeface="Aptos Serif"/>
                <a:ea typeface="+mn-lt"/>
                <a:cs typeface="Aptos Serif"/>
              </a:rPr>
              <a:t>Short-Term Model</a:t>
            </a:r>
          </a:p>
          <a:p>
            <a:pPr marL="719455" lvl="1" indent="-269875">
              <a:lnSpc>
                <a:spcPct val="90000"/>
              </a:lnSpc>
            </a:pPr>
            <a:r>
              <a:rPr lang="en-US" dirty="0">
                <a:latin typeface="Aptos Serif"/>
                <a:ea typeface="+mn-lt"/>
                <a:cs typeface="Aptos Serif"/>
              </a:rPr>
              <a:t>Predicts next game week's score</a:t>
            </a:r>
            <a:r>
              <a:rPr lang="en-US" sz="1800" dirty="0">
                <a:latin typeface="Aptos Serif"/>
                <a:ea typeface="+mn-lt"/>
                <a:cs typeface="Aptos Serif"/>
              </a:rPr>
              <a:t>.</a:t>
            </a:r>
            <a:endParaRPr lang="en-US" dirty="0">
              <a:latin typeface="Aptos Serif"/>
              <a:cs typeface="Aptos Serif"/>
            </a:endParaRPr>
          </a:p>
          <a:p>
            <a:pPr indent="-305435">
              <a:lnSpc>
                <a:spcPct val="90000"/>
              </a:lnSpc>
            </a:pPr>
            <a:r>
              <a:rPr lang="en-US" dirty="0">
                <a:latin typeface="Aptos Serif"/>
                <a:ea typeface="+mn-lt"/>
                <a:cs typeface="Aptos Serif"/>
              </a:rPr>
              <a:t>Long-Term Model</a:t>
            </a:r>
          </a:p>
          <a:p>
            <a:pPr marL="719455" lvl="1" indent="-269875">
              <a:lnSpc>
                <a:spcPct val="90000"/>
              </a:lnSpc>
            </a:pPr>
            <a:r>
              <a:rPr lang="en-US" dirty="0">
                <a:latin typeface="Aptos Serif"/>
                <a:ea typeface="+mn-lt"/>
                <a:cs typeface="Aptos Serif"/>
              </a:rPr>
              <a:t>Predicts </a:t>
            </a:r>
            <a:r>
              <a:rPr lang="en-US" dirty="0">
                <a:latin typeface="Aptos Serif"/>
                <a:cs typeface="Aptos Serif"/>
              </a:rPr>
              <a:t>rest of season (ROS) performance</a:t>
            </a:r>
          </a:p>
          <a:p>
            <a:pPr marL="719455" lvl="1" indent="-269875">
              <a:lnSpc>
                <a:spcPct val="90000"/>
              </a:lnSpc>
            </a:pPr>
            <a:r>
              <a:rPr lang="en-US" dirty="0">
                <a:latin typeface="Aptos Serif"/>
                <a:cs typeface="Aptos Serif"/>
              </a:rPr>
              <a:t>Helps to assess the total value of </a:t>
            </a:r>
            <a:r>
              <a:rPr lang="en-US" sz="1800" dirty="0">
                <a:latin typeface="Aptos Serif"/>
                <a:ea typeface="+mn-lt"/>
                <a:cs typeface="Aptos Serif"/>
              </a:rPr>
              <a:t>players in trade </a:t>
            </a:r>
            <a:r>
              <a:rPr lang="en-US" dirty="0">
                <a:latin typeface="Aptos Serif"/>
                <a:ea typeface="+mn-lt"/>
                <a:cs typeface="Aptos Serif"/>
              </a:rPr>
              <a:t>negotiations.</a:t>
            </a:r>
            <a:endParaRPr lang="en-US" dirty="0">
              <a:latin typeface="Aptos Serif"/>
              <a:cs typeface="Aptos Serif"/>
            </a:endParaRPr>
          </a:p>
          <a:p>
            <a:pPr indent="-305435">
              <a:lnSpc>
                <a:spcPct val="90000"/>
              </a:lnSpc>
            </a:pPr>
            <a:r>
              <a:rPr lang="en-US" dirty="0">
                <a:latin typeface="Aptos Serif"/>
                <a:cs typeface="Aptos Serif"/>
              </a:rPr>
              <a:t>These models are used </a:t>
            </a:r>
            <a:r>
              <a:rPr lang="en-US" dirty="0">
                <a:latin typeface="Aptos Serif"/>
                <a:ea typeface="+mn-lt"/>
                <a:cs typeface="Aptos Serif"/>
              </a:rPr>
              <a:t>to:</a:t>
            </a:r>
            <a:endParaRPr lang="en-US" dirty="0">
              <a:latin typeface="Aptos Serif"/>
              <a:cs typeface="Aptos Serif"/>
            </a:endParaRPr>
          </a:p>
          <a:p>
            <a:pPr marL="719455" lvl="1" indent="-269875">
              <a:lnSpc>
                <a:spcPct val="90000"/>
              </a:lnSpc>
            </a:pPr>
            <a:r>
              <a:rPr lang="en-US" dirty="0">
                <a:latin typeface="Aptos Serif"/>
                <a:cs typeface="Aptos Serif"/>
              </a:rPr>
              <a:t>Rank free agents</a:t>
            </a:r>
          </a:p>
          <a:p>
            <a:pPr marL="719455" lvl="1" indent="-269875">
              <a:lnSpc>
                <a:spcPct val="90000"/>
              </a:lnSpc>
            </a:pPr>
            <a:r>
              <a:rPr lang="en-US" dirty="0">
                <a:latin typeface="Aptos Serif"/>
                <a:ea typeface="+mn-lt"/>
                <a:cs typeface="Aptos Serif"/>
              </a:rPr>
              <a:t>Assess trade targets </a:t>
            </a:r>
            <a:r>
              <a:rPr lang="en-US" sz="1800" dirty="0">
                <a:latin typeface="Aptos Serif"/>
                <a:ea typeface="+mn-lt"/>
                <a:cs typeface="Aptos Serif"/>
              </a:rPr>
              <a:t>and </a:t>
            </a:r>
            <a:r>
              <a:rPr lang="en-US" dirty="0">
                <a:latin typeface="Aptos Serif"/>
                <a:ea typeface="+mn-lt"/>
                <a:cs typeface="Aptos Serif"/>
              </a:rPr>
              <a:t>fillers</a:t>
            </a:r>
          </a:p>
          <a:p>
            <a:pPr marL="719455" lvl="1" indent="-269875">
              <a:lnSpc>
                <a:spcPct val="90000"/>
              </a:lnSpc>
            </a:pPr>
            <a:r>
              <a:rPr lang="en-US" dirty="0">
                <a:latin typeface="Aptos Serif"/>
                <a:ea typeface="+mn-lt"/>
                <a:cs typeface="Aptos Serif"/>
              </a:rPr>
              <a:t>Score team strength over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34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BC5A518B-92F1-8054-6956-06A4602749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DAA26D-9DC2-F14E-5875-B7D461FA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481" y="785327"/>
            <a:ext cx="10691265" cy="1371030"/>
          </a:xfrm>
        </p:spPr>
        <p:txBody>
          <a:bodyPr/>
          <a:lstStyle/>
          <a:p>
            <a:r>
              <a:rPr lang="en-US" dirty="0">
                <a:latin typeface="Aptos Serif"/>
                <a:cs typeface="Aptos Serif"/>
              </a:rPr>
              <a:t>Approach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C33BF-3B6C-8CD0-2ED2-B86EB89C2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481" y="1716741"/>
            <a:ext cx="10691265" cy="435326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Also wanted the model to be capable of recommending realistic, balanced trade offers between managers.</a:t>
            </a:r>
          </a:p>
          <a:p>
            <a:r>
              <a:rPr lang="en-US" sz="1800" dirty="0"/>
              <a:t>Searches for high-value players owned by other teams</a:t>
            </a:r>
          </a:p>
          <a:p>
            <a:r>
              <a:rPr lang="en-US" sz="1800" dirty="0"/>
              <a:t>Proposes a 3-1 trade package, i.e. one manager trades 3 mediocre players for 1 premium, and two lower tier players fill out the numbers.</a:t>
            </a:r>
          </a:p>
          <a:p>
            <a:r>
              <a:rPr lang="en-US" sz="1800" dirty="0"/>
              <a:t>Ensures total net gain is reasonable and realistic, within 10 projected points</a:t>
            </a:r>
          </a:p>
          <a:p>
            <a:r>
              <a:rPr lang="en-US" sz="1800" dirty="0"/>
              <a:t>Filters trades by</a:t>
            </a:r>
          </a:p>
          <a:p>
            <a:pPr lvl="2"/>
            <a:r>
              <a:rPr lang="en-US" dirty="0"/>
              <a:t>Position compatibility</a:t>
            </a:r>
          </a:p>
          <a:p>
            <a:pPr lvl="2"/>
            <a:r>
              <a:rPr lang="en-US" dirty="0"/>
              <a:t>Manager ownership</a:t>
            </a:r>
          </a:p>
          <a:p>
            <a:pPr lvl="2"/>
            <a:r>
              <a:rPr lang="en-US" dirty="0"/>
              <a:t>ROS projections</a:t>
            </a:r>
          </a:p>
          <a:p>
            <a:pPr lvl="1" indent="-269875"/>
            <a:r>
              <a:rPr lang="en-US" sz="1600" dirty="0"/>
              <a:t>to provide explainable and actionable suggestions</a:t>
            </a:r>
          </a:p>
          <a:p>
            <a:r>
              <a:rPr lang="en-US" sz="1800" dirty="0"/>
              <a:t>A Deep Q-Network was originally the choice to implement this feature, but there were unfortunately some issues</a:t>
            </a:r>
          </a:p>
        </p:txBody>
      </p:sp>
    </p:spTree>
    <p:extLst>
      <p:ext uri="{BB962C8B-B14F-4D97-AF65-F5344CB8AC3E}">
        <p14:creationId xmlns:p14="http://schemas.microsoft.com/office/powerpoint/2010/main" val="1811707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5A7E2C44-FEAC-BDBD-E7EF-8062FAB886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2076B7-3092-7CFC-FB73-44F3DB01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Serif"/>
                <a:cs typeface="Aptos Serif"/>
              </a:rPr>
              <a:t>Experiments &amp;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DC2B2-E4B5-DE23-FB01-F511BAA63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305435"/>
            <a:r>
              <a:rPr lang="en-US" sz="1800" dirty="0">
                <a:latin typeface="Aptos Serif"/>
                <a:cs typeface="Aptos Serif"/>
              </a:rPr>
              <a:t>Data Sources</a:t>
            </a:r>
          </a:p>
          <a:p>
            <a:pPr marL="719455" lvl="1" indent="-269875"/>
            <a:r>
              <a:rPr lang="en-US" dirty="0">
                <a:latin typeface="Aptos Serif"/>
                <a:cs typeface="Aptos Serif"/>
              </a:rPr>
              <a:t>FPL official API – player stats, fixture difficulty, ICT index, etc.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cs typeface="Aptos Serif"/>
            </a:endParaRPr>
          </a:p>
          <a:p>
            <a:pPr marL="1025525" lvl="2" indent="-215900"/>
            <a:r>
              <a:rPr lang="en-US" sz="1800" dirty="0">
                <a:latin typeface="Aptos Serif"/>
                <a:cs typeface="Aptos Serif"/>
              </a:rPr>
              <a:t>FPL API is also used to access information on managers and teams within the league</a:t>
            </a:r>
            <a:endParaRPr lang="en-US" sz="18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cs typeface="Aptos Serif"/>
            </a:endParaRPr>
          </a:p>
          <a:p>
            <a:pPr marL="1025525" lvl="2" indent="-215900"/>
            <a:r>
              <a:rPr lang="en-US" sz="1800" dirty="0">
                <a:latin typeface="Aptos Serif"/>
                <a:cs typeface="Aptos Serif"/>
              </a:rPr>
              <a:t>A dictionary is kept of managers and their rosters,</a:t>
            </a:r>
            <a:endParaRPr lang="en-US" sz="18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cs typeface="Aptos Serif"/>
            </a:endParaRPr>
          </a:p>
          <a:p>
            <a:pPr marL="719455" lvl="1" indent="-269875"/>
            <a:r>
              <a:rPr lang="en-US" err="1">
                <a:latin typeface="Aptos Serif"/>
                <a:cs typeface="Aptos Serif"/>
              </a:rPr>
              <a:t>xG</a:t>
            </a:r>
            <a:r>
              <a:rPr lang="en-US" dirty="0">
                <a:latin typeface="Aptos Serif"/>
                <a:cs typeface="Aptos Serif"/>
              </a:rPr>
              <a:t> and </a:t>
            </a:r>
            <a:r>
              <a:rPr lang="en-US" err="1">
                <a:latin typeface="Aptos Serif"/>
                <a:cs typeface="Aptos Serif"/>
              </a:rPr>
              <a:t>xGA</a:t>
            </a:r>
            <a:r>
              <a:rPr lang="en-US" dirty="0">
                <a:latin typeface="Aptos Serif"/>
                <a:cs typeface="Aptos Serif"/>
              </a:rPr>
              <a:t> from </a:t>
            </a:r>
            <a:r>
              <a:rPr lang="en-US" err="1">
                <a:latin typeface="Aptos Serif"/>
                <a:cs typeface="Aptos Serif"/>
              </a:rPr>
              <a:t>Understat</a:t>
            </a:r>
            <a:r>
              <a:rPr lang="en-US">
                <a:latin typeface="Aptos Serif"/>
                <a:cs typeface="Aptos Serif"/>
              </a:rPr>
              <a:t> to add to feature calculation</a:t>
            </a:r>
            <a:r>
              <a:rPr lang="en-US" dirty="0">
                <a:latin typeface="Aptos Serif"/>
                <a:cs typeface="Aptos Serif"/>
              </a:rPr>
              <a:t> 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cs typeface="Aptos Serif"/>
            </a:endParaRPr>
          </a:p>
          <a:p>
            <a:pPr marL="719455" lvl="1" indent="-269875"/>
            <a:r>
              <a:rPr lang="en-US" dirty="0">
                <a:latin typeface="Aptos Serif"/>
                <a:cs typeface="Aptos Serif"/>
              </a:rPr>
              <a:t>Historical FPL data from publicly available on </a:t>
            </a:r>
            <a:r>
              <a:rPr lang="en-US" err="1">
                <a:latin typeface="Aptos Serif"/>
                <a:cs typeface="Aptos Serif"/>
              </a:rPr>
              <a:t>github</a:t>
            </a:r>
            <a:r>
              <a:rPr lang="en-US" dirty="0">
                <a:latin typeface="Aptos Serif"/>
                <a:cs typeface="Aptos Serif"/>
              </a:rPr>
              <a:t> </a:t>
            </a:r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cs typeface="Aptos Serif"/>
            </a:endParaRPr>
          </a:p>
          <a:p>
            <a:pPr marL="449580" lvl="1" indent="0">
              <a:buNone/>
            </a:pP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719455" lvl="1" indent="-269875"/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653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7959EBD7-02B1-F7CB-3478-58E0F8E14A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A176A7-3908-76F2-60AE-05EB6258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Serif"/>
                <a:cs typeface="Aptos Serif"/>
              </a:rPr>
              <a:t>Experiments &amp;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47467-351D-65F9-21C7-9FFD115A7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19588"/>
            <a:ext cx="10691265" cy="363608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indent="-305435"/>
            <a:r>
              <a:rPr lang="en-US" sz="1800" dirty="0"/>
              <a:t>Short-Term Model</a:t>
            </a:r>
          </a:p>
          <a:p>
            <a:pPr marL="719455" lvl="1" indent="-269875"/>
            <a:r>
              <a:rPr lang="en-US" dirty="0"/>
              <a:t>Random Forest Regressor from scikit-learn</a:t>
            </a:r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719455" lvl="1" indent="-269875"/>
            <a:r>
              <a:rPr lang="en-US" dirty="0"/>
              <a:t>Features: </a:t>
            </a:r>
          </a:p>
          <a:p>
            <a:pPr marL="1176655" lvl="2" indent="-269875"/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1363980" lvl="3" indent="0">
              <a:buNone/>
            </a:pPr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449580" lvl="1" indent="0">
              <a:buNone/>
            </a:pPr>
            <a:endParaRPr lang="en-US" dirty="0"/>
          </a:p>
          <a:p>
            <a:pPr marL="719455" lvl="1" indent="-269875"/>
            <a:r>
              <a:rPr lang="en-US" dirty="0"/>
              <a:t>Training Data: </a:t>
            </a:r>
            <a:r>
              <a:rPr lang="en-US" dirty="0" err="1"/>
              <a:t>gameweek</a:t>
            </a:r>
            <a:r>
              <a:rPr lang="en-US" dirty="0"/>
              <a:t>-by-</a:t>
            </a:r>
            <a:r>
              <a:rPr lang="en-US" dirty="0" err="1"/>
              <a:t>gameweek</a:t>
            </a:r>
            <a:r>
              <a:rPr lang="en-US" dirty="0"/>
              <a:t> format, each row = a player-GW</a:t>
            </a:r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719455" lvl="1" indent="-269875"/>
            <a:r>
              <a:rPr lang="en-US" dirty="0"/>
              <a:t>Target: next game-week’s points</a:t>
            </a:r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r>
              <a:rPr lang="en-US" sz="1800" dirty="0"/>
              <a:t>Long-Term Model</a:t>
            </a:r>
            <a:endParaRPr lang="en-US" sz="180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719455" lvl="1" indent="-269875"/>
            <a:r>
              <a:rPr lang="en-US" dirty="0"/>
              <a:t>Random Forest Regressor from scikit-learn</a:t>
            </a:r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719455" lvl="1" indent="-269875"/>
            <a:r>
              <a:rPr lang="en-US" dirty="0"/>
              <a:t>Features: </a:t>
            </a:r>
          </a:p>
          <a:p>
            <a:pPr marL="1176655" lvl="2" indent="-269875"/>
            <a:endParaRPr lang="en-US" dirty="0"/>
          </a:p>
          <a:p>
            <a:pPr marL="906780" lvl="2" indent="0">
              <a:buNone/>
            </a:pPr>
            <a:endParaRPr lang="en-US" dirty="0"/>
          </a:p>
          <a:p>
            <a:pPr marL="719455" lvl="1" indent="-269875"/>
            <a:r>
              <a:rPr lang="en-US" dirty="0"/>
              <a:t>Target: projected rest of season (ROS) points.</a:t>
            </a:r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262255" indent="-269875"/>
            <a:r>
              <a:rPr lang="en-US" dirty="0"/>
              <a:t>Feature Engineering and target variable selection allow for the models to differentiate in purpose and outcome</a:t>
            </a:r>
          </a:p>
          <a:p>
            <a:pPr marL="719455" lvl="1" indent="-269875"/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719455" lvl="1" indent="-269875"/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719455" lvl="1" indent="-269875"/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4043DD-E98D-5DFD-84C1-2C64A4041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76" y="2700949"/>
            <a:ext cx="5066861" cy="5142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EA3D7C-11B1-E490-9918-8F8F4F07A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876" y="4390015"/>
            <a:ext cx="5066861" cy="34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07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D41404F2-C1A4-BEBD-3B8B-6B3CA479AC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-14142" y="0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254BF5-576D-1EE7-65DD-1398ED4A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707292"/>
            <a:ext cx="5168052" cy="1117600"/>
          </a:xfrm>
        </p:spPr>
        <p:txBody>
          <a:bodyPr>
            <a:normAutofit/>
          </a:bodyPr>
          <a:lstStyle/>
          <a:p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cs typeface="Aptos Serif"/>
              </a:rPr>
              <a:t>Results</a:t>
            </a:r>
            <a:endParaRPr lang="en-US" dirty="0">
              <a:latin typeface="Aptos Serif"/>
              <a:cs typeface="Aptos Serif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33FDBDE-29C6-D7FE-7924-374EC5626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1828800"/>
            <a:ext cx="5168052" cy="39624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3275A1"/>
              </a:buClr>
            </a:pPr>
            <a:r>
              <a:rPr lang="en-US" sz="160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cs typeface="Aptos Serif"/>
              </a:rPr>
              <a:t>The Short-Term Model</a:t>
            </a:r>
          </a:p>
          <a:p>
            <a:pPr marL="457200" lvl="1" indent="0">
              <a:buClr>
                <a:srgbClr val="3275A1"/>
              </a:buClr>
              <a:buNone/>
            </a:pPr>
            <a:endParaRPr lang="en-US" sz="140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cs typeface="Aptos Serif"/>
            </a:endParaRPr>
          </a:p>
          <a:p>
            <a:pPr>
              <a:buClr>
                <a:srgbClr val="3275A1"/>
              </a:buClr>
            </a:pPr>
            <a:endParaRPr lang="en-US" sz="160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ea typeface="+mn-lt"/>
              <a:cs typeface="+mn-lt"/>
            </a:endParaRPr>
          </a:p>
          <a:p>
            <a:pPr lvl="1">
              <a:buClr>
                <a:srgbClr val="3275A1"/>
              </a:buClr>
            </a:pPr>
            <a:endParaRPr lang="en-US" sz="140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ea typeface="+mn-lt"/>
              <a:cs typeface="+mn-lt"/>
            </a:endParaRPr>
          </a:p>
          <a:p>
            <a:pPr>
              <a:buClr>
                <a:srgbClr val="3275A1"/>
              </a:buClr>
            </a:pPr>
            <a:r>
              <a:rPr lang="en-US" sz="160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ea typeface="+mn-lt"/>
                <a:cs typeface="+mn-lt"/>
              </a:rPr>
              <a:t>The Long-Term Model</a:t>
            </a:r>
          </a:p>
          <a:p>
            <a:pPr lvl="1">
              <a:buClr>
                <a:srgbClr val="3275A1"/>
              </a:buClr>
            </a:pPr>
            <a:endParaRPr lang="en-US" sz="140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CB0EA6-2432-C202-7D25-8250E00F6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056" y="2222579"/>
            <a:ext cx="3629532" cy="619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A5AE27-91F9-9EE9-4220-34A125D21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056" y="3755533"/>
            <a:ext cx="3581900" cy="521355"/>
          </a:xfrm>
          <a:prstGeom prst="rect">
            <a:avLst/>
          </a:prstGeom>
        </p:spPr>
      </p:pic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B4BAB4B4-8C27-623A-BAEC-30222DCBCAD1}"/>
              </a:ext>
            </a:extLst>
          </p:cNvPr>
          <p:cNvSpPr txBox="1">
            <a:spLocks/>
          </p:cNvSpPr>
          <p:nvPr/>
        </p:nvSpPr>
        <p:spPr>
          <a:xfrm>
            <a:off x="6552898" y="1828800"/>
            <a:ext cx="5168052" cy="3962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275A1"/>
              </a:buClr>
            </a:pPr>
            <a:r>
              <a:rPr lang="en-US" sz="140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cs typeface="Aptos Serif"/>
              </a:rPr>
              <a:t>K Fold</a:t>
            </a:r>
          </a:p>
          <a:p>
            <a:pPr lvl="1">
              <a:buClr>
                <a:srgbClr val="3275A1"/>
              </a:buClr>
            </a:pPr>
            <a:r>
              <a:rPr lang="en-US" sz="120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ea typeface="+mn-lt"/>
                <a:cs typeface="+mn-lt"/>
              </a:rPr>
              <a:t>Splits dataset into k-sized folds, randomly shuffling before partitioning</a:t>
            </a:r>
          </a:p>
          <a:p>
            <a:pPr lvl="1">
              <a:buClr>
                <a:srgbClr val="3275A1"/>
              </a:buClr>
            </a:pPr>
            <a:r>
              <a:rPr lang="en-US" sz="120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ea typeface="+mn-lt"/>
                <a:cs typeface="+mn-lt"/>
              </a:rPr>
              <a:t>Runs k times. In each run, one fold is held out for validation while other k-1 folds are used for training using the Random Forest Regressor</a:t>
            </a:r>
          </a:p>
          <a:p>
            <a:pPr lvl="1">
              <a:buClr>
                <a:srgbClr val="3275A1"/>
              </a:buClr>
            </a:pPr>
            <a:r>
              <a:rPr lang="en-US" sz="120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ea typeface="+mn-lt"/>
                <a:cs typeface="+mn-lt"/>
              </a:rPr>
              <a:t>Used for short term as it allows for generalization across all </a:t>
            </a:r>
            <a:r>
              <a:rPr lang="en-US" sz="1200" dirty="0" err="1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ea typeface="+mn-lt"/>
                <a:cs typeface="+mn-lt"/>
              </a:rPr>
              <a:t>gameweeks</a:t>
            </a:r>
            <a:endParaRPr lang="en-US" sz="120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ea typeface="+mn-lt"/>
              <a:cs typeface="+mn-lt"/>
            </a:endParaRPr>
          </a:p>
          <a:p>
            <a:pPr>
              <a:buClr>
                <a:srgbClr val="3275A1"/>
              </a:buClr>
            </a:pPr>
            <a:r>
              <a:rPr lang="en-US" sz="140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ea typeface="+mn-lt"/>
                <a:cs typeface="+mn-lt"/>
              </a:rPr>
              <a:t>Time Series Split</a:t>
            </a:r>
          </a:p>
          <a:p>
            <a:pPr lvl="1">
              <a:buClr>
                <a:srgbClr val="3275A1"/>
              </a:buClr>
            </a:pPr>
            <a:r>
              <a:rPr lang="en-US" sz="120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ea typeface="+mn-lt"/>
                <a:cs typeface="+mn-lt"/>
              </a:rPr>
              <a:t>Splits the folds chronologically, fold one trains on the earliest points and validates thereafter, fold two extends the training window and so on.</a:t>
            </a:r>
          </a:p>
          <a:p>
            <a:pPr lvl="1">
              <a:buClr>
                <a:srgbClr val="3275A1"/>
              </a:buClr>
            </a:pPr>
            <a:r>
              <a:rPr lang="en-US" sz="120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ea typeface="+mn-lt"/>
                <a:cs typeface="+mn-lt"/>
              </a:rPr>
              <a:t>As we’re trying to predict future performance over a prolonged period, the Long-Term model can validate the predictions of each training slice immediately on known data to better it’s estimation.</a:t>
            </a:r>
            <a:endParaRPr lang="en-US" sz="100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ptos Serif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9046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B9271-2241-07D6-0C16-A8933A6A8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BC6CBC3E-A8AC-AF16-0A02-829F89DA8D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0" y="0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338035-2EA8-C1EC-5D6A-84CE7F0F5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cs typeface="Aptos Serif"/>
              </a:rPr>
              <a:t>Results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4C4B44A-3169-9CFF-81A9-42B29BC6A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1714380"/>
            <a:ext cx="10691812" cy="4927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1400" dirty="0">
                <a:latin typeface="Aptos Serif"/>
                <a:cs typeface="Aptos Serif"/>
              </a:rPr>
              <a:t>Metrics</a:t>
            </a:r>
          </a:p>
          <a:p>
            <a:pPr marL="800100" lvl="1" indent="-342900"/>
            <a:r>
              <a:rPr lang="en-US" sz="1000" dirty="0">
                <a:latin typeface="Aptos Serif"/>
                <a:cs typeface="Aptos Serif"/>
              </a:rPr>
              <a:t>CV MAE (Cross Validation Mean Absolute Error)</a:t>
            </a:r>
          </a:p>
          <a:p>
            <a:pPr marL="1257300" lvl="2" indent="-342900"/>
            <a:r>
              <a:rPr lang="en-US" sz="1000" dirty="0">
                <a:latin typeface="Aptos Serif"/>
                <a:cs typeface="Aptos Serif"/>
              </a:rPr>
              <a:t>The average absolute error computed across all cross-validation folds, where each fold is held out in turn</a:t>
            </a:r>
          </a:p>
          <a:p>
            <a:pPr marL="1714500" lvl="3" indent="-342900"/>
            <a:r>
              <a:rPr lang="en-US" sz="1000" dirty="0">
                <a:latin typeface="Aptos Serif"/>
                <a:cs typeface="Aptos Serif"/>
              </a:rPr>
              <a:t>For the short-term model, the estimation is within ~ 1 point</a:t>
            </a:r>
          </a:p>
          <a:p>
            <a:pPr marL="1714500" lvl="3" indent="-342900"/>
            <a:r>
              <a:rPr lang="en-US" sz="1000" dirty="0">
                <a:latin typeface="Aptos Serif"/>
                <a:cs typeface="Aptos Serif"/>
              </a:rPr>
              <a:t>For the long-term model,  the estimation seems to be outstanding, projecting within ~ 2 points, </a:t>
            </a:r>
          </a:p>
          <a:p>
            <a:pPr marL="2171700" lvl="4" indent="-342900"/>
            <a:r>
              <a:rPr lang="en-US" sz="1000" dirty="0">
                <a:latin typeface="Aptos Serif"/>
                <a:cs typeface="Aptos Serif"/>
              </a:rPr>
              <a:t>Variance is limited with the season ending soon</a:t>
            </a:r>
          </a:p>
          <a:p>
            <a:pPr marL="800100" lvl="1" indent="-342900"/>
            <a:r>
              <a:rPr lang="en-US" sz="1000" dirty="0">
                <a:latin typeface="Aptos Serif"/>
                <a:cs typeface="Aptos Serif"/>
              </a:rPr>
              <a:t>MAE </a:t>
            </a:r>
          </a:p>
          <a:p>
            <a:pPr marL="1257300" lvl="2" indent="-342900"/>
            <a:r>
              <a:rPr lang="en-US" sz="1000" dirty="0">
                <a:latin typeface="Aptos Serif"/>
                <a:cs typeface="Aptos Serif"/>
              </a:rPr>
              <a:t>The average of absolute differences between predicted and actual points</a:t>
            </a:r>
          </a:p>
          <a:p>
            <a:pPr marL="1714500" lvl="3" indent="-342900"/>
            <a:r>
              <a:rPr lang="en-US" sz="1000" dirty="0">
                <a:latin typeface="Aptos Serif"/>
                <a:cs typeface="Aptos Serif"/>
              </a:rPr>
              <a:t>Short-Term is 1.15 points</a:t>
            </a:r>
          </a:p>
          <a:p>
            <a:pPr marL="1714500" lvl="3" indent="-342900"/>
            <a:r>
              <a:rPr lang="en-US" sz="1000" dirty="0">
                <a:latin typeface="Aptos Serif"/>
                <a:cs typeface="Aptos Serif"/>
              </a:rPr>
              <a:t>Long-Term is ~ 2.5 points as the players current points are added in to make the forecasting projection</a:t>
            </a:r>
          </a:p>
          <a:p>
            <a:pPr marL="800100" lvl="1" indent="-342900"/>
            <a:r>
              <a:rPr lang="en-US" sz="1000" dirty="0">
                <a:latin typeface="Aptos Serif"/>
                <a:cs typeface="Aptos Serif"/>
              </a:rPr>
              <a:t>RMSE (Root Mean Squared Error)</a:t>
            </a:r>
          </a:p>
          <a:p>
            <a:pPr marL="1257300" lvl="2" indent="-342900"/>
            <a:r>
              <a:rPr lang="en-US" sz="1000" dirty="0">
                <a:latin typeface="Aptos Serif"/>
                <a:cs typeface="Aptos Serif"/>
              </a:rPr>
              <a:t>The square root of the mean squared errors, penalizes large misses</a:t>
            </a:r>
          </a:p>
          <a:p>
            <a:pPr marL="1714500" lvl="3" indent="-342900"/>
            <a:r>
              <a:rPr lang="en-US" sz="1000" dirty="0">
                <a:latin typeface="Aptos Serif"/>
                <a:cs typeface="Aptos Serif"/>
              </a:rPr>
              <a:t>Short-Term is ~2.4 points, </a:t>
            </a:r>
          </a:p>
          <a:p>
            <a:pPr marL="1714500" lvl="3" indent="-342900"/>
            <a:r>
              <a:rPr lang="en-US" sz="1000" dirty="0">
                <a:latin typeface="Aptos Serif"/>
                <a:cs typeface="Aptos Serif"/>
              </a:rPr>
              <a:t>Long-Term is ~ 4 points.</a:t>
            </a:r>
          </a:p>
          <a:p>
            <a:pPr marL="800100" lvl="1" indent="-342900"/>
            <a:r>
              <a:rPr lang="en-US" sz="1000" dirty="0"/>
              <a:t>R² (Coefficient of Determination)</a:t>
            </a:r>
          </a:p>
          <a:p>
            <a:pPr marL="1257300" lvl="2" indent="-342900"/>
            <a:r>
              <a:rPr lang="en-US" sz="1000" dirty="0">
                <a:latin typeface="Aptos Serif"/>
                <a:cs typeface="Aptos Serif"/>
              </a:rPr>
              <a:t>Fraction of variance in the true scores that the model explores</a:t>
            </a:r>
          </a:p>
          <a:p>
            <a:pPr marL="1714500" lvl="3" indent="-342900"/>
            <a:r>
              <a:rPr lang="en-US" sz="1000" dirty="0">
                <a:latin typeface="Aptos Serif"/>
                <a:cs typeface="Aptos Serif"/>
              </a:rPr>
              <a:t>We’re able to explain ~ 25% of the variance in the short-term model, inherent randomness of the problem limits the projection for a single </a:t>
            </a:r>
            <a:r>
              <a:rPr lang="en-US" sz="1000" dirty="0" err="1">
                <a:latin typeface="Aptos Serif"/>
                <a:cs typeface="Aptos Serif"/>
              </a:rPr>
              <a:t>gw</a:t>
            </a:r>
            <a:r>
              <a:rPr lang="en-US" sz="1000" dirty="0">
                <a:latin typeface="Aptos Serif"/>
                <a:cs typeface="Aptos Serif"/>
              </a:rPr>
              <a:t>,</a:t>
            </a:r>
          </a:p>
          <a:p>
            <a:pPr marL="1714500" lvl="3" indent="-342900"/>
            <a:r>
              <a:rPr lang="en-US" sz="1000" dirty="0">
                <a:latin typeface="Aptos Serif"/>
                <a:cs typeface="Aptos Serif"/>
              </a:rPr>
              <a:t>Long-Term again benefits from the player’s current points being applied to the forecast, explaining ~99% of the variance.</a:t>
            </a:r>
            <a:br>
              <a:rPr lang="en-US" sz="1000" dirty="0">
                <a:latin typeface="Aptos Serif"/>
                <a:cs typeface="Aptos Serif"/>
              </a:rPr>
            </a:br>
            <a:r>
              <a:rPr lang="en-US" sz="1000" dirty="0">
                <a:latin typeface="Aptos Serif"/>
                <a:cs typeface="Aptos Serif"/>
              </a:rPr>
              <a:t>	</a:t>
            </a:r>
          </a:p>
          <a:p>
            <a:pPr marL="1257300" lvl="2" indent="-342900"/>
            <a:endParaRPr lang="en-US" dirty="0">
              <a:latin typeface="Aptos Serif"/>
              <a:cs typeface="Aptos Serif"/>
            </a:endParaRPr>
          </a:p>
          <a:p>
            <a:pPr indent="-305435"/>
            <a:endParaRPr lang="en-US" dirty="0">
              <a:latin typeface="Aptos Serif"/>
              <a:cs typeface="Aptos Serif"/>
            </a:endParaRPr>
          </a:p>
          <a:p>
            <a:pPr marL="0" indent="0">
              <a:buNone/>
            </a:pPr>
            <a:endParaRPr lang="en-US" dirty="0">
              <a:latin typeface="Aptos Serif"/>
              <a:cs typeface="Aptos Serif"/>
            </a:endParaRPr>
          </a:p>
        </p:txBody>
      </p:sp>
    </p:spTree>
    <p:extLst>
      <p:ext uri="{BB962C8B-B14F-4D97-AF65-F5344CB8AC3E}">
        <p14:creationId xmlns:p14="http://schemas.microsoft.com/office/powerpoint/2010/main" val="32889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B0C71-C0BF-67D2-B669-F4788224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879C65F3-8182-D6C7-2119-01EFB2AF75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0" y="0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F9BDB2-AFA9-B493-BFF5-8DF5B57E6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cs typeface="Aptos Serif"/>
              </a:rPr>
              <a:t>Results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7D41BD0-0EC4-8398-4B78-9F0E2A0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1714380"/>
            <a:ext cx="10691812" cy="4927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1400" dirty="0">
                <a:latin typeface="Aptos Serif"/>
                <a:cs typeface="Aptos Serif"/>
              </a:rPr>
              <a:t>Feature Importance</a:t>
            </a:r>
          </a:p>
          <a:p>
            <a:pPr marL="800100" lvl="1" indent="-342900"/>
            <a:r>
              <a:rPr lang="en-US" sz="1200" dirty="0">
                <a:latin typeface="Aptos Serif"/>
                <a:cs typeface="Aptos Serif"/>
              </a:rPr>
              <a:t>Displays which features each model resonated towards to best root out variance in its estimations</a:t>
            </a:r>
            <a:r>
              <a:rPr lang="en-US" sz="800" dirty="0">
                <a:latin typeface="Aptos Serif"/>
                <a:cs typeface="Aptos Serif"/>
              </a:rPr>
              <a:t>	</a:t>
            </a:r>
          </a:p>
          <a:p>
            <a:pPr marL="1257300" lvl="2" indent="-342900"/>
            <a:endParaRPr lang="en-US" dirty="0">
              <a:latin typeface="Aptos Serif"/>
              <a:cs typeface="Aptos Serif"/>
            </a:endParaRPr>
          </a:p>
          <a:p>
            <a:pPr indent="-305435"/>
            <a:endParaRPr lang="en-US" dirty="0">
              <a:latin typeface="Aptos Serif"/>
              <a:cs typeface="Aptos Serif"/>
            </a:endParaRPr>
          </a:p>
          <a:p>
            <a:pPr marL="0" indent="0">
              <a:buNone/>
            </a:pPr>
            <a:endParaRPr lang="en-US" dirty="0">
              <a:latin typeface="Aptos Serif"/>
              <a:cs typeface="Aptos Serif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1F95F8-EE33-57F8-4506-99F0069DA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164" y="2637523"/>
            <a:ext cx="4320405" cy="2592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AE574C-C885-D43E-4D60-6F5E36A900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433" y="2637523"/>
            <a:ext cx="4320405" cy="259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735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CA507-8BC5-EEDB-EC52-476EC1BCA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54E8D10D-DB3D-D75E-4C15-6C3A3C1A8F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0" y="0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432D2E-D5F8-FC33-2C69-619C1815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cs typeface="Aptos Serif"/>
              </a:rPr>
              <a:t>Results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91AFFA-43E8-74DA-AE65-4E8D076E9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1714380"/>
            <a:ext cx="10691812" cy="4927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1400" dirty="0">
                <a:latin typeface="Aptos Serif"/>
                <a:cs typeface="Aptos Serif"/>
              </a:rPr>
              <a:t>Learning Curve</a:t>
            </a:r>
          </a:p>
          <a:p>
            <a:pPr marL="800100" lvl="1" indent="-342900"/>
            <a:r>
              <a:rPr lang="en-US" sz="1200" dirty="0">
                <a:latin typeface="Aptos Serif"/>
                <a:cs typeface="Aptos Serif"/>
              </a:rPr>
              <a:t>The MAE for each model after player-</a:t>
            </a:r>
            <a:r>
              <a:rPr lang="en-US" sz="1200" dirty="0" err="1">
                <a:latin typeface="Aptos Serif"/>
                <a:cs typeface="Aptos Serif"/>
              </a:rPr>
              <a:t>gw</a:t>
            </a:r>
            <a:r>
              <a:rPr lang="en-US" sz="1200" dirty="0">
                <a:latin typeface="Aptos Serif"/>
                <a:cs typeface="Aptos Serif"/>
              </a:rPr>
              <a:t> rows used for training</a:t>
            </a:r>
          </a:p>
          <a:p>
            <a:pPr marL="1257300" lvl="2" indent="-342900"/>
            <a:r>
              <a:rPr lang="en-US" sz="1200" dirty="0">
                <a:latin typeface="Aptos Serif"/>
                <a:cs typeface="Aptos Serif"/>
              </a:rPr>
              <a:t>“Train” is the MAE on the training folds</a:t>
            </a:r>
          </a:p>
          <a:p>
            <a:pPr marL="1257300" lvl="2" indent="-342900"/>
            <a:r>
              <a:rPr lang="en-US" sz="1200" dirty="0">
                <a:latin typeface="Aptos Serif"/>
                <a:cs typeface="Aptos Serif"/>
              </a:rPr>
              <a:t>CV is the MAE on the held-out, validation, folds</a:t>
            </a:r>
            <a:r>
              <a:rPr lang="en-US" sz="400" dirty="0">
                <a:latin typeface="Aptos Serif"/>
                <a:cs typeface="Aptos Serif"/>
              </a:rPr>
              <a:t>	</a:t>
            </a:r>
          </a:p>
          <a:p>
            <a:pPr marL="1257300" lvl="2" indent="-342900"/>
            <a:endParaRPr lang="en-US" dirty="0">
              <a:latin typeface="Aptos Serif"/>
              <a:cs typeface="Aptos Serif"/>
            </a:endParaRPr>
          </a:p>
          <a:p>
            <a:pPr indent="-305435"/>
            <a:endParaRPr lang="en-US" dirty="0">
              <a:latin typeface="Aptos Serif"/>
              <a:cs typeface="Aptos Serif"/>
            </a:endParaRPr>
          </a:p>
          <a:p>
            <a:pPr marL="0" indent="0">
              <a:buNone/>
            </a:pPr>
            <a:endParaRPr lang="en-US" dirty="0">
              <a:latin typeface="Aptos Serif"/>
              <a:cs typeface="Aptos Serif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CFA1F7-9531-C8C1-E6EE-CB9F8AECD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60" y="2896772"/>
            <a:ext cx="5126352" cy="25631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66B4E9-6594-B33F-1C17-C836257B29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8" y="2896772"/>
            <a:ext cx="5126352" cy="256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23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810F-8031-FCE9-E3BE-029A36630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65D234AD-534B-4A87-4BFA-7966E99672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0" y="0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23D52C-C22A-23D3-2DDC-4DBA74FBF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cs typeface="Aptos Serif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AB33C-4338-E933-F342-8B751818D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906780" lvl="2" indent="0">
              <a:buNone/>
            </a:pPr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cs typeface="Aptos Serif"/>
            </a:endParaRPr>
          </a:p>
          <a:p>
            <a:pPr marL="719455" lvl="1" indent="-269875">
              <a:buFont typeface="Courier New" charset="2"/>
              <a:buChar char="o"/>
            </a:pPr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3C5D87-7154-521E-CFC1-169962B5A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265" y="1607611"/>
            <a:ext cx="4731716" cy="40690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F7EB5AE-01CE-8FDE-6C5F-3AC433C8E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611" y="1607611"/>
            <a:ext cx="3931631" cy="426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162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DC46-4D93-107C-AEE2-F7F976E36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138B62C4-5803-407E-2276-F401DB0F3B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0" y="0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01BFD0-8BB7-3279-7A89-27A0854E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ptos Serif"/>
                <a:cs typeface="Aptos Serif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230B7-B2E4-5072-E742-472A42542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906780" lvl="2" indent="0">
              <a:buNone/>
            </a:pPr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cs typeface="Aptos Serif"/>
            </a:endParaRPr>
          </a:p>
          <a:p>
            <a:pPr marL="719455" lvl="1" indent="-269875">
              <a:buFont typeface="Courier New" charset="2"/>
              <a:buChar char="o"/>
            </a:pPr>
            <a:endParaRPr lang="en-US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83C77F-C6E4-5CCA-E1FC-A08F51F0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691" y="1607612"/>
            <a:ext cx="4065308" cy="43963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B0B073-748F-09EF-0C8B-734419FF2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240" y="1607611"/>
            <a:ext cx="4767096" cy="419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39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E5A904D6-A0E6-AAF0-474E-C1EE518881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2025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9E730E-F6A6-16D7-716E-4F62A10C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Serif"/>
                <a:cs typeface="Aptos Serif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B30B1-B9DE-CCA6-33CD-B93711530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73049"/>
            <a:ext cx="10691265" cy="3636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ptos Serif"/>
                <a:cs typeface="Aptos Serif"/>
              </a:rPr>
              <a:t>Using Random Forest Regression, the system</a:t>
            </a:r>
          </a:p>
          <a:p>
            <a:pPr lvl="1" indent="-269875"/>
            <a:r>
              <a:rPr lang="en-US" b="1" dirty="0">
                <a:latin typeface="Aptos Serif"/>
                <a:ea typeface="+mn-lt"/>
                <a:cs typeface="+mn-lt"/>
              </a:rPr>
              <a:t>Predicts short-term player performance</a:t>
            </a:r>
            <a:r>
              <a:rPr lang="en-US" dirty="0">
                <a:latin typeface="Aptos Serif"/>
                <a:ea typeface="+mn-lt"/>
                <a:cs typeface="+mn-lt"/>
              </a:rPr>
              <a:t> </a:t>
            </a:r>
            <a:endParaRPr lang="en-US" dirty="0">
              <a:latin typeface="Aptos Serif"/>
              <a:cs typeface="Aptos Serif"/>
            </a:endParaRPr>
          </a:p>
          <a:p>
            <a:pPr lvl="1"/>
            <a:r>
              <a:rPr lang="en-US" b="1" dirty="0">
                <a:latin typeface="Aptos Serif"/>
                <a:ea typeface="+mn-lt"/>
                <a:cs typeface="+mn-lt"/>
              </a:rPr>
              <a:t>Estimates long-term value</a:t>
            </a:r>
            <a:r>
              <a:rPr lang="en-US" dirty="0">
                <a:latin typeface="Aptos Serif"/>
                <a:ea typeface="+mn-lt"/>
                <a:cs typeface="+mn-lt"/>
              </a:rPr>
              <a:t> based on projected season totals</a:t>
            </a:r>
            <a:endParaRPr lang="en-US" dirty="0">
              <a:latin typeface="Aptos Serif"/>
              <a:cs typeface="Aptos Serif"/>
            </a:endParaRPr>
          </a:p>
          <a:p>
            <a:pPr lvl="1"/>
            <a:r>
              <a:rPr lang="en-US" b="1" dirty="0">
                <a:latin typeface="Aptos Serif"/>
                <a:ea typeface="+mn-lt"/>
                <a:cs typeface="+mn-lt"/>
              </a:rPr>
              <a:t>Identifies optimal waiver signings</a:t>
            </a:r>
            <a:r>
              <a:rPr lang="en-US" dirty="0">
                <a:latin typeface="Aptos Serif"/>
                <a:ea typeface="+mn-lt"/>
                <a:cs typeface="+mn-lt"/>
              </a:rPr>
              <a:t> to patch positional gaps</a:t>
            </a:r>
            <a:endParaRPr lang="en-US" dirty="0">
              <a:latin typeface="Aptos Serif"/>
            </a:endParaRPr>
          </a:p>
          <a:p>
            <a:pPr lvl="1"/>
            <a:r>
              <a:rPr lang="en-US" b="1" dirty="0">
                <a:latin typeface="Aptos Serif"/>
                <a:ea typeface="+mn-lt"/>
                <a:cs typeface="+mn-lt"/>
              </a:rPr>
              <a:t>Suggests realistic trades</a:t>
            </a:r>
            <a:r>
              <a:rPr lang="en-US" dirty="0">
                <a:latin typeface="Aptos Serif"/>
                <a:ea typeface="+mn-lt"/>
                <a:cs typeface="+mn-lt"/>
              </a:rPr>
              <a:t> that benefit the manager</a:t>
            </a:r>
          </a:p>
          <a:p>
            <a:pPr lvl="1"/>
            <a:r>
              <a:rPr lang="en-US" b="1" dirty="0">
                <a:latin typeface="Aptos Serif"/>
                <a:ea typeface="+mn-lt"/>
                <a:cs typeface="+mn-lt"/>
              </a:rPr>
              <a:t>Evaluates trades</a:t>
            </a:r>
            <a:r>
              <a:rPr lang="en-US" dirty="0">
                <a:latin typeface="Aptos Serif"/>
                <a:ea typeface="+mn-lt"/>
                <a:cs typeface="+mn-lt"/>
              </a:rPr>
              <a:t> based on projected point gains for both sides</a:t>
            </a:r>
            <a:endParaRPr lang="en-US" dirty="0">
              <a:latin typeface="Aptos Serif"/>
              <a:cs typeface="Aptos Serif"/>
            </a:endParaRPr>
          </a:p>
          <a:p>
            <a:pPr lvl="1"/>
            <a:r>
              <a:rPr lang="en-US" b="1" dirty="0">
                <a:latin typeface="Aptos Serif"/>
                <a:ea typeface="+mn-lt"/>
                <a:cs typeface="+mn-lt"/>
              </a:rPr>
              <a:t>Forecasts total team performance</a:t>
            </a:r>
            <a:r>
              <a:rPr lang="en-US" dirty="0">
                <a:latin typeface="Aptos Serif"/>
                <a:ea typeface="+mn-lt"/>
                <a:cs typeface="+mn-lt"/>
              </a:rPr>
              <a:t> over time</a:t>
            </a:r>
            <a:endParaRPr lang="en-US" dirty="0">
              <a:latin typeface="Aptos Serif"/>
              <a:cs typeface="Aptos Serif"/>
            </a:endParaRPr>
          </a:p>
          <a:p>
            <a:pPr lvl="1"/>
            <a:r>
              <a:rPr lang="en-US" b="1" dirty="0">
                <a:latin typeface="Aptos Serif"/>
                <a:ea typeface="+mn-lt"/>
                <a:cs typeface="+mn-lt"/>
              </a:rPr>
              <a:t>And most importantly, the system provides a quantitative basis for decision-making</a:t>
            </a:r>
            <a:endParaRPr lang="en-US" dirty="0">
              <a:latin typeface="Aptos Serif"/>
            </a:endParaRPr>
          </a:p>
        </p:txBody>
      </p:sp>
    </p:spTree>
    <p:extLst>
      <p:ext uri="{BB962C8B-B14F-4D97-AF65-F5344CB8AC3E}">
        <p14:creationId xmlns:p14="http://schemas.microsoft.com/office/powerpoint/2010/main" val="1844264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71244-E9CB-5153-FE1A-20D8CF9CB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ss field with a white line and fog&#10;&#10;AI-generated content may be incorrect.">
            <a:extLst>
              <a:ext uri="{FF2B5EF4-FFF2-40B4-BE49-F238E27FC236}">
                <a16:creationId xmlns:a16="http://schemas.microsoft.com/office/drawing/2014/main" id="{088770FE-5FBA-53C3-6A26-2AD767D070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l="2216" r="2216"/>
          <a:stretch/>
        </p:blipFill>
        <p:spPr>
          <a:xfrm>
            <a:off x="2025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650C77-37A1-13DB-A777-72463EB0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Serif"/>
                <a:cs typeface="Aptos Serif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11862-2FA3-F1D5-F48E-2CCB7C703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59" y="2033150"/>
            <a:ext cx="10691265" cy="36360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dirty="0">
                <a:latin typeface="Aptos Serif"/>
                <a:cs typeface="Aptos Serif"/>
              </a:rPr>
              <a:t>Next Steps</a:t>
            </a:r>
            <a:endParaRPr lang="en-US" dirty="0"/>
          </a:p>
          <a:p>
            <a:pPr lvl="1"/>
            <a:r>
              <a:rPr lang="en-US" dirty="0">
                <a:latin typeface="Aptos Serif"/>
                <a:cs typeface="Aptos Serif"/>
              </a:rPr>
              <a:t>Fully integrate the Deep Q-Network to improve on player trade suggestions, improving on the current rule-based logic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latin typeface="Aptos Serif"/>
                <a:cs typeface="Aptos Serif"/>
              </a:rPr>
              <a:t>Including better, more comprehensive state encoding for the agent</a:t>
            </a:r>
          </a:p>
          <a:p>
            <a:pPr lvl="1"/>
            <a:r>
              <a:rPr lang="en-US" dirty="0">
                <a:latin typeface="Aptos Serif"/>
                <a:cs typeface="Aptos Serif"/>
              </a:rPr>
              <a:t>Automate roster updates</a:t>
            </a:r>
          </a:p>
          <a:p>
            <a:pPr lvl="1"/>
            <a:r>
              <a:rPr lang="en-US" dirty="0"/>
              <a:t>Improve the UI</a:t>
            </a:r>
          </a:p>
          <a:p>
            <a:pPr lvl="1"/>
            <a:r>
              <a:rPr lang="en-US" dirty="0"/>
              <a:t>Work through some of the complications with the FPL Draft API</a:t>
            </a:r>
          </a:p>
        </p:txBody>
      </p:sp>
    </p:spTree>
    <p:extLst>
      <p:ext uri="{BB962C8B-B14F-4D97-AF65-F5344CB8AC3E}">
        <p14:creationId xmlns:p14="http://schemas.microsoft.com/office/powerpoint/2010/main" val="1901176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B3F81-A3AF-10BF-3423-C7FDFFB31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Serif"/>
                <a:ea typeface="Calibri"/>
                <a:cs typeface="Aptos Serif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4C2C7-A8BF-3878-BFB3-01BA58C2E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[1]  V. Rajesh, P. Arjun, K. R. Jagtap, S. C. M and J. Prakash, "Player Recommendation System for      Fantasy Premier League using Machine Learning," </a:t>
            </a:r>
            <a:r>
              <a:rPr lang="en-US" sz="1800" i="1" dirty="0">
                <a:ea typeface="+mn-lt"/>
                <a:cs typeface="+mn-lt"/>
              </a:rPr>
              <a:t>2022 </a:t>
            </a:r>
            <a:endParaRPr lang="en-US" sz="1800" dirty="0">
              <a:latin typeface="Aptos Serif"/>
              <a:ea typeface="+mn-lt"/>
              <a:cs typeface="Aptos Serif"/>
            </a:endParaRPr>
          </a:p>
          <a:p>
            <a:pPr marL="0" indent="0">
              <a:buNone/>
            </a:pPr>
            <a:r>
              <a:rPr lang="en-US" sz="1800" dirty="0">
                <a:latin typeface="Aptos Serif"/>
                <a:ea typeface="+mn-lt"/>
                <a:cs typeface="+mn-lt"/>
              </a:rPr>
              <a:t>[2] </a:t>
            </a:r>
            <a:r>
              <a:rPr lang="en-US" sz="1800" dirty="0">
                <a:ea typeface="+mn-lt"/>
                <a:cs typeface="+mn-lt"/>
              </a:rPr>
              <a:t> A. </a:t>
            </a:r>
            <a:r>
              <a:rPr lang="en-US" sz="1800" dirty="0" err="1">
                <a:ea typeface="+mn-lt"/>
                <a:cs typeface="+mn-lt"/>
              </a:rPr>
              <a:t>Peddii</a:t>
            </a:r>
            <a:r>
              <a:rPr lang="en-US" sz="1800" dirty="0">
                <a:ea typeface="+mn-lt"/>
                <a:cs typeface="+mn-lt"/>
              </a:rPr>
              <a:t> and R. Jain, "Random Forest-Based Fantasy Football Team Selection," </a:t>
            </a:r>
            <a:r>
              <a:rPr lang="en-US" sz="1800" i="1" dirty="0">
                <a:ea typeface="+mn-lt"/>
                <a:cs typeface="+mn-lt"/>
              </a:rPr>
              <a:t>2023 </a:t>
            </a:r>
            <a:r>
              <a:rPr lang="en-US" sz="1800" dirty="0">
                <a:latin typeface="Aptos Serif"/>
                <a:ea typeface="+mn-lt"/>
                <a:cs typeface="Times New Roman"/>
              </a:rPr>
              <a:t> </a:t>
            </a:r>
            <a:endParaRPr lang="en-US" sz="1800">
              <a:latin typeface="Aptos Serif"/>
              <a:ea typeface="+mn-lt"/>
              <a:cs typeface="Aptos Serif"/>
            </a:endParaRPr>
          </a:p>
          <a:p>
            <a:pPr marL="0" indent="0">
              <a:buNone/>
            </a:pPr>
            <a:r>
              <a:rPr lang="en-US" sz="1800" dirty="0">
                <a:latin typeface="Aptos Serif"/>
                <a:ea typeface="+mn-lt"/>
                <a:cs typeface="+mn-lt"/>
              </a:rPr>
              <a:t>[3] </a:t>
            </a:r>
            <a:r>
              <a:rPr lang="en-US" sz="1800" dirty="0">
                <a:ea typeface="+mn-lt"/>
                <a:cs typeface="+mn-lt"/>
              </a:rPr>
              <a:t> M. </a:t>
            </a:r>
            <a:r>
              <a:rPr lang="en-US" sz="1800" dirty="0" err="1">
                <a:ea typeface="+mn-lt"/>
                <a:cs typeface="+mn-lt"/>
              </a:rPr>
              <a:t>Bangdiwala</a:t>
            </a:r>
            <a:r>
              <a:rPr lang="en-US" sz="1800" dirty="0">
                <a:ea typeface="+mn-lt"/>
                <a:cs typeface="+mn-lt"/>
              </a:rPr>
              <a:t>, R. Choudhari, A. Hegde and A. Salunke, "Using ML Models to Predict Points in      Fantasy Premier League," </a:t>
            </a:r>
            <a:r>
              <a:rPr lang="en-US" sz="1800" i="1" dirty="0">
                <a:ea typeface="+mn-lt"/>
                <a:cs typeface="+mn-lt"/>
              </a:rPr>
              <a:t>2022 </a:t>
            </a:r>
            <a:r>
              <a:rPr lang="en-US" sz="1800" dirty="0">
                <a:latin typeface="Aptos Serif"/>
                <a:ea typeface="+mn-lt"/>
                <a:cs typeface="Aptos Serif"/>
              </a:rPr>
              <a:t> </a:t>
            </a:r>
            <a:endParaRPr lang="en-US" sz="1800" dirty="0">
              <a:latin typeface="Aptos Serif"/>
              <a:cs typeface="Aptos Serif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34337-2581-EA00-6F37-66BE9B01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6595-6B94-4EF7-8A86-CDC374F6429E}" type="datetime1">
              <a:rPr lang="en-US"/>
              <a:t>5/1/2025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56CFD-56CE-C652-8294-09A69746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DB258-4B91-EA93-1B66-D40348E1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24325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a4161d7-0e07-4bb5-8cdd-a87a7602a44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54A6C77D34E44FB33E0184D6F9C744" ma:contentTypeVersion="18" ma:contentTypeDescription="Create a new document." ma:contentTypeScope="" ma:versionID="312e1912da43eb35b4c12351f7aba026">
  <xsd:schema xmlns:xsd="http://www.w3.org/2001/XMLSchema" xmlns:xs="http://www.w3.org/2001/XMLSchema" xmlns:p="http://schemas.microsoft.com/office/2006/metadata/properties" xmlns:ns3="6a4161d7-0e07-4bb5-8cdd-a87a7602a445" xmlns:ns4="30453fea-43c5-4a0b-a417-834186a09351" targetNamespace="http://schemas.microsoft.com/office/2006/metadata/properties" ma:root="true" ma:fieldsID="fa839fa7e6a76d8d2f4ad15e5c16558d" ns3:_="" ns4:_="">
    <xsd:import namespace="6a4161d7-0e07-4bb5-8cdd-a87a7602a445"/>
    <xsd:import namespace="30453fea-43c5-4a0b-a417-834186a093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4161d7-0e07-4bb5-8cdd-a87a7602a4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453fea-43c5-4a0b-a417-834186a0935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F0C8AC-2E56-4B21-87C1-93F8FD54BEF0}">
  <ds:schemaRefs>
    <ds:schemaRef ds:uri="http://purl.org/dc/terms/"/>
    <ds:schemaRef ds:uri="http://schemas.microsoft.com/office/infopath/2007/PartnerControls"/>
    <ds:schemaRef ds:uri="http://schemas.microsoft.com/office/2006/metadata/properties"/>
    <ds:schemaRef ds:uri="6a4161d7-0e07-4bb5-8cdd-a87a7602a445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30453fea-43c5-4a0b-a417-834186a09351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931E205-49B6-4C8E-B3B7-ACB46940BF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4E6D02-41C2-42E2-AAF2-5EAF0E4762A4}">
  <ds:schemaRefs>
    <ds:schemaRef ds:uri="30453fea-43c5-4a0b-a417-834186a09351"/>
    <ds:schemaRef ds:uri="6a4161d7-0e07-4bb5-8cdd-a87a7602a44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308</TotalTime>
  <Words>1230</Words>
  <Application>Microsoft Office PowerPoint</Application>
  <PresentationFormat>Widescreen</PresentationFormat>
  <Paragraphs>137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 Serif</vt:lpstr>
      <vt:lpstr>Arial</vt:lpstr>
      <vt:lpstr>Calisto MT</vt:lpstr>
      <vt:lpstr>Courier New</vt:lpstr>
      <vt:lpstr>Univers Condensed</vt:lpstr>
      <vt:lpstr>Wingdings</vt:lpstr>
      <vt:lpstr>ChronicleVTI</vt:lpstr>
      <vt:lpstr>Fantasy Draft AID </vt:lpstr>
      <vt:lpstr>Introduction</vt:lpstr>
      <vt:lpstr>Key Related Work</vt:lpstr>
      <vt:lpstr>Approach </vt:lpstr>
      <vt:lpstr>Approach </vt:lpstr>
      <vt:lpstr>Experiments &amp; Training</vt:lpstr>
      <vt:lpstr>Experiments &amp; Training</vt:lpstr>
      <vt:lpstr>Results</vt:lpstr>
      <vt:lpstr>Results</vt:lpstr>
      <vt:lpstr>Results</vt:lpstr>
      <vt:lpstr>Results</vt:lpstr>
      <vt:lpstr>Results</vt:lpstr>
      <vt:lpstr>Results</vt:lpstr>
      <vt:lpstr>Conclusion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Byrd</dc:creator>
  <cp:lastModifiedBy>John Byrd</cp:lastModifiedBy>
  <cp:revision>933</cp:revision>
  <dcterms:created xsi:type="dcterms:W3CDTF">2025-04-21T14:59:46Z</dcterms:created>
  <dcterms:modified xsi:type="dcterms:W3CDTF">2025-05-02T05:27:10Z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0x010100FA54A6C77D34E44FB33E0184D6F9C744</vt:lpwstr>
  </property>
</Properties>
</file>